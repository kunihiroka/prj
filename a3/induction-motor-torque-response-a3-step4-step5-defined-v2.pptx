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50c4598f14d42" /><Relationship Type="http://schemas.openxmlformats.org/officeDocument/2006/relationships/extended-properties" Target="/docProps/app.xml" Id="Rf168a5506aed42df" /><Relationship Type="http://schemas.openxmlformats.org/officeDocument/2006/relationships/officeDocument" Target="/ppt/presentation.xml" Id="Rae3b1541d87e49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728ec5949c420f"/>
  </p:sldMasterIdLst>
  <p:notesMasterIdLst>
    <p:notesMasterId xmlns:r="http://schemas.openxmlformats.org/officeDocument/2006/relationships" r:id="R29d6ac52f6504772"/>
  </p:notesMasterIdLst>
  <p:sldIdLst>
    <p:sldId xmlns:r="http://schemas.openxmlformats.org/officeDocument/2006/relationships" id="256" r:id="R91e3a759aed241d4"/>
  </p:sldIdLst>
  <p:sldSz cx="16040100" cy="11334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91370c91484a09" /><Relationship Type="http://schemas.openxmlformats.org/officeDocument/2006/relationships/slideMaster" Target="/ppt/slideMasters/slideMaster1.xml" Id="R41728ec5949c420f" /><Relationship Type="http://schemas.openxmlformats.org/officeDocument/2006/relationships/notesMaster" Target="/ppt/notesMasters/notesMaster1.xml" Id="R29d6ac52f6504772" /><Relationship Type="http://schemas.openxmlformats.org/officeDocument/2006/relationships/presProps" Target="/ppt/presProps.xml" Id="R4b17e21eb2ca4bc2" /><Relationship Type="http://schemas.openxmlformats.org/officeDocument/2006/relationships/viewProps" Target="/ppt/viewProps.xml" Id="R76a504a97baa452f" /><Relationship Type="http://schemas.openxmlformats.org/officeDocument/2006/relationships/tableStyles" Target="/ppt/tableStyles.xml" Id="R0124c6cfedd64f62" /><Relationship Type="http://schemas.openxmlformats.org/officeDocument/2006/relationships/slide" Target="/ppt/slides/slide1.xml" Id="R91e3a759aed241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015140178548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e17cd5e2a4ecc" /><Relationship Type="http://schemas.openxmlformats.org/officeDocument/2006/relationships/notesMaster" Target="/ppt/notesMasters/notesMaster1.xml" Id="R7a09f0637e1a42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fec81f01e46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926a6efa64fa8" /><Relationship Type="http://schemas.openxmlformats.org/officeDocument/2006/relationships/slideLayout" Target="/ppt/slideLayouts/slideLayout1.xml" Id="Rc9a2e2cc9e424d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a2e2cc9e424d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3396892654036" /><Relationship Type="http://schemas.openxmlformats.org/officeDocument/2006/relationships/notesSlide" Target="/ppt/notesSlides/notesSlide1.xml" Id="R1487c5387ce84f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116AA-7899-4B93-B78F-68B6B2CA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040100" cy="1133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A2C36-7674-4A5F-A151-906FA7B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誘導電動機 トルク応答遅れの問題解決 A3（Step4: 用語定義反映版）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9439B-AFE8-4525-9DAF-6E7D9D03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860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r">
              <a:defRPr sz="1088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1088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起点：ロータ磁束 ψr に直交する一次固定子電流成分の立上りが遅れる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6AC4-25B1-4C33-B63C-2CF8BA6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00075"/>
            <a:ext cx="1539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52349-B0FA-4DCB-9D07-0593946B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9150"/>
            <a:ext cx="76581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EE413-55AD-43C0-AACF-40793C8E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191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005FC-DA8F-43B3-A795-572A96AE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77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3B82-73DA-4897-BCF6-5BD89BFE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82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問題の明確化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91852-78C8-41B4-8443-E7615F2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93051-679A-44B0-8A01-99C1CBF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・トルク指令ステップに対し、実トルクの10-90%立上り時間が目標を超過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BC89-0928-42A1-9696-8D8AA1C5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・対象は誘導電動機ロータ磁束基準ベクトル制御の過渡応答。定常トルク誤差ではない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F26BD-CEED-4F15-8BCF-C433BAB8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8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・問題波形：トルク指令変化後、ロータ磁束 ψr に直交する一次固定子電流成分が遅れて立上る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96F76-C0E1-4147-BCA0-7D46DB2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3DCF8-5609-437A-96D0-843ACD88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674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14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未記入欄：目標 ____ ms / 現状 ____ ms / 差 ____ ms / 条件：速度 ____ rpm、Vdc ____ V、推定ロータ温度 ____ 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9976A-086C-40EC-A4CE-D0A7DD5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62425"/>
            <a:ext cx="76581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DFF28-C933-4B8C-8258-A18C88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6242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42362-D53C-49F5-B94B-AC43730D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910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E11A1-DE74-47E9-87E0-BAD069C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現状把握・層別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59179-8217-456F-B496-3464101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545139-C0E6-4232-83E1-714D500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562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層別結果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87699-34AB-4441-B43D-CCFE5EFD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3562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・トルク遅れは、電磁トルク発生項 Te ∝ |ψr|・|is|・sinδ の遅れとして出ている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226A5-EAE3-49A6-87B7-30B96CB4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29225"/>
            <a:ext cx="3562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・ψr：ロータ磁束ベクトル、is：一次固定子電流ベクトル、δ：isとψrのなす角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81788-348C-4CD8-8782-0C26C0E7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3562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99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・Step4は、定義済み物理量だけを使って、代表経路5段と枝葉候補を展開する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98FF6-5D57-49F5-99FF-E36EC9B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3925"/>
            <a:ext cx="3333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E3A755-2919-4F24-A1CA-9608D4A4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672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1088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用語定義・ログ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04003-335F-4B4B-BD23-302CB88B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53025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・is：一次固定子電流ベクトル（iu,iv,iw→αβ）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240C6-09C6-4CA5-A8A5-FDB164C2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10200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・i_sd^ψ / i_sq^ψ：ψr基準dq軸の一次電流成分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09F80-AA7C-4126-8ABB-701B6048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67375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・θψr：基準ロータ磁束角、θ^ψr：制御内推定角、Δθψ=θ^ψr-θψr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2E668F-FB10-4D12-A0C6-DD09A61F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924550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・v_sd^*,v_sq^*：ψr基準dq軸の一次電圧指令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8C2117-0471-45E8-9008-B09B541C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81725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・相電流検出LPF：iu/iv/iw ADC入力または電流センサ出力のLPF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051B98-4528-4A35-8F9D-7040D348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438900"/>
            <a:ext cx="2971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7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・速度LPF：速度/位置推定値のフィルタ。相電流LPFと区別する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D0475-50ED-4D6B-BF8B-9F44C64A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43725"/>
            <a:ext cx="7086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110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1110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層別問題：ロータ磁束 ψr に直交する一次固定子電流成分の立上りが遅れる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68F42-5C87-4453-8A97-92D4100B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05700"/>
            <a:ext cx="76581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7838F-4788-4E58-B416-C1FF5AD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75057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C3CD3A-5D53-4075-94A0-E2BB6335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53427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FA80ED-9D83-4EBB-B8C0-CA3822A4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5247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目標設定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D24A2E-1D7D-4E8C-9059-FD095459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58125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595C3C-B050-4804-B5C7-EFB4143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15300"/>
            <a:ext cx="7048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・ロータ磁束 ψr に直交する一次固定子電流成分の10-90%立上りを ____ ms以下にする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E728E0-1A57-4FCA-AFC0-D4B333E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91525"/>
            <a:ext cx="7048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・各枝は5段まで掘り、枝葉候補も定義済み物理量または制御実装名で記述する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866FD2-5440-4652-8EA2-BC810045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67750"/>
            <a:ext cx="70485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・対策後、トルク指令→i_sq^ψ→電磁トルクの遅れ関係が目標内に入ることを確認する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0E0552-379F-41D8-A562-4E80161B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429750"/>
            <a:ext cx="6934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28B39E-73C4-4CEF-AF5A-51A4A26C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393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合格条件：電流・磁束・角度・LPF・電圧指令を、測定/推定/制御座標が分かる表現で記述すること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03A028-D8F9-4CB7-B0AF-70DD7ADE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19150"/>
            <a:ext cx="7658100" cy="640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300BC6-844D-48D1-82FB-CFA6D642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1915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1E9E26-24DA-4561-8995-196B6EA5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4772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F3E78F-B5E2-411E-86A8-900AB075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8382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要因解析：用語定義を明確にした枝葉ツリー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C04D328-27AF-43FC-A870-70E76B11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71575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BD46AB-C44A-470B-BAD3-79590F96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1104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14288">
            <a:solidFill>
              <a:srgbClr val="A43E2B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4F9667-43FC-43FF-A0C2-AD81951F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5285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事象</a:t>
            </a:r>
          </a:p>
          <a:p xmlns:a="http://schemas.openxmlformats.org/drawingml/2006/main">
            <a:pPr algn="ctr">
              <a:def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ψr直交方向の</a:t>
            </a:r>
          </a:p>
          <a:p xmlns:a="http://schemas.openxmlformats.org/drawingml/2006/main">
            <a:pPr algn="ctr">
              <a:def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一次固定子電流</a:t>
            </a:r>
          </a:p>
          <a:p xmlns:a="http://schemas.openxmlformats.org/drawingml/2006/main">
            <a:pPr algn="ctr">
              <a:def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540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成分が遅れる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89C8E2-3138-4332-8D41-5127B9BD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92880"/>
            <a:ext cx="22860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DC68C6-37B9-4178-9A16-2931023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52650"/>
            <a:ext cx="1524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E11EDD-F779-4B95-9369-CDC7E6C1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87880"/>
            <a:ext cx="952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4049D8-04D8-4BC3-8BFE-045F041B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0383731-2910-4188-8CD8-0C6ADE3E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8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10478">
            <a:solidFill>
              <a:srgbClr val="A43E2B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32EF97-F7BC-4E9F-AB26-AEA7A0BF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0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なぜ1</a:t>
            </a:r>
          </a:p>
          <a:p xmlns:a="http://schemas.openxmlformats.org/drawingml/2006/main">
            <a:pPr algn="ctr">
              <a:def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isがψr直交方向へ</a:t>
            </a:r>
          </a:p>
          <a:p xmlns:a="http://schemas.openxmlformats.org/drawingml/2006/main">
            <a:pPr algn="ctr">
              <a:def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向かない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6CA18B-C4D5-4BB8-A5D1-AA6C1DD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8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5C2E83-C27F-4C04-BCD8-49AB84FC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FA45EC-4161-49D4-9E59-5B9EC1C5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88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3321D24-4A82-4DFC-B8C5-C00D785B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90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なぜ2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制御q軸と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軸偏差Δθψが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大きい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66E48E-5F86-4E0B-BB7A-DE04E1F0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08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5A61C1-994A-41D6-8A29-D0ABF272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4ADAF2-FB7E-4185-BE88-2AB1FF46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88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1F19B9-1483-45AC-815B-F2999782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90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なぜ3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θ^ψr推定誤差が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大きい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3A25D0-5A5C-48B2-BC6E-93F4B10F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08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38C41F-9246-43F7-8104-83216283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26ED3B-0301-4DB5-BB2D-0CF55007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188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4A06521-727F-44F4-83B9-1105B005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190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なぜ4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ωsl演算が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実機と合わない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25AF459-BA65-4364-AE1A-9279DFE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08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A8FD993-6CBE-45CC-9F6B-6933B7B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CB65A9A-0F56-444B-B500-58B706D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88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9DFAF20-1307-4B83-85D4-2189D42D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190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なぜ5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Tr=Lr/Rrを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固定値で扱う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CC5202-A7F9-4408-B0A0-88885D98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08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0AABBD-EA3B-41C6-B4A0-D71B2BD9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205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2D3817-2B23-4E8B-B040-9B3E3711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18859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13335">
            <a:solidFill>
              <a:srgbClr val="A43E2B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5273AD0-57A7-47C8-93DB-20A30BF5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1905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真因A</a:t>
            </a:r>
          </a:p>
          <a:p xmlns:a="http://schemas.openxmlformats.org/drawingml/2006/main">
            <a:pPr algn="ctr">
              <a:def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Tr/磁束角</a:t>
            </a:r>
          </a:p>
          <a:p xmlns:a="http://schemas.openxmlformats.org/drawingml/2006/main">
            <a:pPr algn="ctr">
              <a:def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モデル補正不足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C0B5B40-7E72-479F-AF04-AB2A3F79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1752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52E656-C425-401B-84A7-CD25EC7B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744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176106B-755A-49F9-903F-9AB3843A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716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349BF23-4D9C-4470-8DF5-BCB931B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657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8096">
            <a:solidFill>
              <a:srgbClr val="A43E2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F67E49-6A33-4927-8284-24B9642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676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速度推定</a:t>
            </a:r>
          </a:p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誤差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B3DC8DE-C80D-4441-83DA-2899A63C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2305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913000-4049-4B82-BB7A-172E8670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430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995D78E-7223-4382-9590-4ACDF33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2402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E1C492-EEB0-4696-B1FB-BDF3BB53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343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8096">
            <a:solidFill>
              <a:srgbClr val="A43E2B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4093184-CC2D-41A1-8248-680048DD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362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磁束観測器</a:t>
            </a:r>
          </a:p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遅れ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C87D1F-578E-442D-A89F-E4B2978F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1752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12EB90E-8F57-4BC0-A2C4-79F5950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1744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165FC06-B68B-4A23-A3B3-0021937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716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E4DA8D1-349A-4376-9DD6-3B96F1C5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657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8096">
            <a:solidFill>
              <a:srgbClr val="A43E2B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A339D29-9419-426F-A835-4C3A2C60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676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dq座標変換</a:t>
            </a:r>
          </a:p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演算遅れ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ECB61CB-A243-4C18-BA3D-CBF3DC8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30" y="2305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AF890E-B8EC-472D-80D9-39A450EA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430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2626352-8586-41DD-B490-2C1EFA7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402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3E2B"/>
          </a:solidFill>
          <a:ln xmlns:a="http://schemas.openxmlformats.org/drawingml/2006/main" w="0">
            <a:solidFill>
              <a:srgbClr val="A43E2B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DC724F1-A568-4B3A-B582-1F35F13F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343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8096">
            <a:solidFill>
              <a:srgbClr val="A43E2B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F0B0982-791B-41AB-B44C-D21952C0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362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角度センサ</a:t>
            </a:r>
          </a:p>
          <a:p xmlns:a="http://schemas.openxmlformats.org/drawingml/2006/main">
            <a:pPr algn="ctr">
              <a:def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誤差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B43CAD-E0AC-43DF-BC39-1E0D4F4E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0380"/>
            <a:ext cx="952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AC49CFC-DB5A-4A66-AA2D-E0AD6528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93A53AD-D2B6-46FC-96DD-50BD2146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10478">
            <a:solidFill>
              <a:srgbClr val="146B73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9412B89-1516-4FFE-A8CD-29211F8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57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なぜ1</a:t>
            </a:r>
          </a:p>
          <a:p xmlns:a="http://schemas.openxmlformats.org/drawingml/2006/main">
            <a:pPr algn="ctr">
              <a:def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|is|が</a:t>
            </a:r>
          </a:p>
          <a:p xmlns:a="http://schemas.openxmlformats.org/drawingml/2006/main">
            <a:pPr algn="ctr">
              <a:def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増えない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93FEBD1-1008-423C-840B-E60B2A48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0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42E37D0-6ED0-4ED0-AAEE-5AF97705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9449EB-1DF5-489D-B313-CA17389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838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0D15C5-3B8B-47BA-A9D6-259C6CC0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857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なぜ2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i_sq^ψ指令に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実i_sq^ψが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追従しない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63864CB-D4BD-4B42-9AC8-BE8FA1A1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40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2A89722-EA00-41D1-8F20-4C8ACC04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7426BDF-0074-43D9-8ACF-AE678FD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838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B28E14-EA10-4584-A5F3-C8D9A85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57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なぜ3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v_sd^*,v_sq^*が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必要値まで出ない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EE015E-516C-41F2-8C19-1084B67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040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436039-A914-4B47-83B0-ED029B7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493A524-A442-43B1-AEA7-B7240946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2838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ACF853-7F6A-4A05-A0DC-301CABA3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2857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なぜ4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インバータ電圧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余裕が不足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32681AC-7D7E-42A7-9204-1C212062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040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7EBE7C5-52C2-4941-AEB4-9100B283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7D1EA55-80AF-4D6E-A3CB-0A9BFE38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838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8BE4A13-1C17-4C59-B521-FA719FB2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857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なぜ5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過渡電圧余裕を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設計で確保しない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F0D7D7-7402-45B9-807A-08C63515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040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32E038-7C73-4C47-841D-8466A7D5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3011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18BEED9-B1BC-4605-883C-A90554A6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8384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13335">
            <a:solidFill>
              <a:srgbClr val="146B73"/>
            </a:solidFill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D09347-6DE4-4B27-AE32-C656B0BB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28575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真因B</a:t>
            </a:r>
          </a:p>
          <a:p xmlns:a="http://schemas.openxmlformats.org/drawingml/2006/main">
            <a:pPr algn="ctr">
              <a:def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電流制御帯域/</a:t>
            </a:r>
          </a:p>
          <a:p xmlns:a="http://schemas.openxmlformats.org/drawingml/2006/main">
            <a:pPr algn="ctr">
              <a:def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電圧余裕不足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58AE030-9F27-4224-B41B-102666D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2705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961AB28-391A-4648-8F11-53C4F294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97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BE74FE4-F85A-42B4-A5E8-83039D18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668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B0478E2-7076-4138-A6D2-06A4C7E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09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8096">
            <a:solidFill>
              <a:srgbClr val="146B73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F44347-F1C1-49F0-89E1-6A9BAEAC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628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電流PI</a:t>
            </a:r>
          </a:p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帯域不足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CB3B849-8344-4B64-B5FA-7DCFEB95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32575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DAA7B4C-1E35-49BE-B816-A780F71B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3832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65E34E1-1358-42B3-946F-81146350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3547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171649-B3BB-4E1A-B582-FE64DE2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956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8096">
            <a:solidFill>
              <a:srgbClr val="146B7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0A20A6F-3CE8-44AD-B3DD-31EF8326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314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相電流検出</a:t>
            </a:r>
          </a:p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LPF遅れ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B500488-8657-4741-9E92-44E00613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2705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AD907B0-722F-4943-B557-0118A23D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2697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EC1E828-55AA-4489-8F10-677CC1B2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668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2844349-ADFF-4CDB-AA80-4639F6F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09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8096">
            <a:solidFill>
              <a:srgbClr val="146B73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125E58-B92B-4239-80F3-4B61B846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628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dq非干渉</a:t>
            </a:r>
          </a:p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補償不足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E49AB23-9904-4997-AD23-05F8CEA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30" y="32575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D410817-FD27-40F2-84E0-CCE84B38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832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E2EB32B-EDEE-4F7B-AF0A-2027DDF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3547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E0F7822C-C716-4326-BF11-85677658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2956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8096">
            <a:solidFill>
              <a:srgbClr val="146B73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433534C-772D-431C-84D4-F1D68A4D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314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電流制限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B9EEA37-1F22-4964-A945-2D7F0049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30" y="2705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282464-4053-431D-825D-549855DC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697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A3B2621-1ED2-469C-8506-6E549406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2668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146B73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8B34A68-0EFC-4E30-86C4-AA84E858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2609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8096">
            <a:solidFill>
              <a:srgbClr val="146B73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0ACF2A4-E214-44BF-8B36-07EFE42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628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PWM/演算</a:t>
            </a:r>
          </a:p>
          <a:p xmlns:a="http://schemas.openxmlformats.org/drawingml/2006/main">
            <a:pPr algn="ctr">
              <a:def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遅れ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3BFDBFF-3A11-462E-A812-A2EA8D26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92880"/>
            <a:ext cx="952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334225-D4A8-4ACF-872F-4837B53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0C23ABFC-382A-458A-8AA7-464D9F4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90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10478">
            <a:solidFill>
              <a:srgbClr val="4E7A38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F8E8AD8-8222-45D4-B338-0B3ECFCD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0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なぜ1</a:t>
            </a:r>
          </a:p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Δθψが</a:t>
            </a:r>
          </a:p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大きい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20DE2C3-F57A-4DAE-BC9D-222E2F8C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92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9E335C4-7F26-4B6E-BD5C-82A59429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A44FEA4-98F6-4F6F-8BD7-E657E48C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90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9339F4B-DEDC-4CB4-8574-BA8DA7B2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810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なぜ2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Tr設定が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実機状態と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合わない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1027401-300A-4488-AF19-42C4C627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992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A7F25D1-08CA-4923-B45C-E6F29165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8B66BCD-F0E0-4D25-9BD9-2C9E03E0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790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126993D-FD57-4E7A-93DF-1F4859F8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なぜ3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Rrがロータ温度で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変化する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40041B4-F661-4C3F-9E70-96D6224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3992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01C54BB-2279-4904-8A75-6F87F428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8C2D456-5B91-4928-A353-8793EC61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3790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2432BA7-B480-4437-8D65-08DD92C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3810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なぜ4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ロータ温度を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直接測れない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D34D2B1-5476-4868-B84B-CF03B22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3992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3AAE5E7-3FD4-4A54-B7D5-A80B2BB0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94288C6-A1B7-4F1C-B920-4941DF13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790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F949C3F-0CF9-4E04-8B03-6305C53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810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なぜ5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推定ロータ温度を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Tr補正へ未反映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FDA7BBC-12BE-4CAD-BB7B-154384E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992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DB9F035-E921-434C-939F-560DECD9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3964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23B848A-0C16-4F10-AC47-EE516DD2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7909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13335">
            <a:solidFill>
              <a:srgbClr val="4E7A38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F3377C99-4975-4499-8526-8C526367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3810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真因C</a:t>
            </a:r>
          </a:p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Rr温度補正/</a:t>
            </a:r>
          </a:p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Tr補正不足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368ABAE-E358-4B7A-AFB5-3A96B0D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3657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540C5DE-260C-4219-822D-54729928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49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55B244E7-3561-40E9-A72D-5A806453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621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83FB58F5-FE4B-44B9-8CCC-BE43CD7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562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9D9AA36-B592-44C4-BB62-DA548BD7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581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Lm(Id)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飽和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6F216E8-3958-4DDC-B901-15AAFE7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4210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351A290-E0F8-489C-A0AE-C03F208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335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7B78D0F-8B8E-4F8D-B8AF-0934E242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307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7DC3EC57-3DD7-4909-9036-8E137C5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48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386BD796-9625-48F2-85ED-526810C4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267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ロータ導体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スキン効果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EB94A12-440F-4A27-BEA8-67B5723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3657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3E44193-D577-419C-8295-42218A1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649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8F03A3D4-14C6-4257-B39E-90BD419E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21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476BCE3-3AD0-45AB-B780-853433C3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562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225F1AFA-E582-43F5-B2E2-23F7D182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581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モータ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個体差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99CA6C1-8071-406B-BF3E-9430965B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4210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0119664A-B5FB-46E1-A4A8-DB7C440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4335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5AC31CA-37C5-4B62-9FCB-2F1DAB1D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4307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CCB7B8A-5501-493F-B295-4B244E0B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248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418DB37-357B-4609-A33E-5C036B64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267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漏れL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同定誤差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EBC1A881-C2D0-4C9F-8453-459C147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30" y="3657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8DE40C4-FDFA-4D4F-879C-912B91E7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649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46C4AB7C-16FC-456E-9CA2-FF4D2C9A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621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3570DE45-C439-44CE-915C-A670E220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562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921D7CD-A072-4D23-A7CF-FF9E183A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581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ψr同定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誤差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E160496-285D-4965-93A7-F0DD2727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45380"/>
            <a:ext cx="952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E4E6F6BB-33DC-432D-BD78-8E42E0C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A7F828D8-584B-4813-AAAD-34ABCDF0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43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10478">
            <a:solidFill>
              <a:srgbClr val="4E7A38"/>
            </a:solidFill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C5D222A-4E73-46D1-A430-AA207233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62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なぜ1</a:t>
            </a:r>
          </a:p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|ψr|が</a:t>
            </a:r>
          </a:p>
          <a:p xmlns:a="http://schemas.openxmlformats.org/drawingml/2006/main">
            <a:pPr algn="ctr">
              <a:def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立上らない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5C4FA16-E671-4A58-9348-8D4E4548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45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E24D980-8B79-45FC-9895-812736AF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11AFA3DA-DB0E-4840-BF15-99CDD45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743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FE91722-40EF-45D1-AFC1-ED7ACA2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762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なぜ2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i_sd^ψが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必要値へ増えない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2F881BD8-CC88-4340-8889-7117A47C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945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A11493D-B952-407F-A921-5F1C055E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6400FE79-619D-4822-84E7-82099EAB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4743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DD74032-CEFC-404D-BCCD-EBD0BD0E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762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なぜ3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一次電流上限に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当たる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F130D55-6A9B-42FE-B210-ECA9F76F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945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3244DF4-A1C9-49A4-BE7C-CA47E572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D29FB8E-8EA6-45DE-9005-01EF3F2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4743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D6508D0-BF37-4F79-9484-BE7A6D02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4762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なぜ4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i_sq^ψ優先配分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になる</a:t>
            </a:r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D6310C5D-F593-4856-91D5-37EB54E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945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D8DED41-6A4C-41D6-9BA8-5AD9CFAB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C4F8BB1-76FE-4C0D-96D9-E4A1883E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7434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3BDB7A6-ACFD-4AB1-8DC2-F35B983C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47625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なぜ5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過渡時i_sd^ψ下限を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持っていない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15665EA1-D4A0-40FA-A1FD-BA38FD1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9453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D49361B3-6372-477F-A95F-8A3B1CBB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49168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66BB23EB-7D4C-4DDD-B516-24C72504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7434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13335">
            <a:solidFill>
              <a:srgbClr val="4E7A38"/>
            </a:solidFill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DC8D192A-550D-49E5-A47E-BA01A255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7625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真因D</a:t>
            </a:r>
          </a:p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磁束確保/</a:t>
            </a:r>
          </a:p>
          <a:p xmlns:a="http://schemas.openxmlformats.org/drawingml/2006/main">
            <a:pPr algn="ctr">
              <a:def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i_sd^ψ配分不足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004A153-9CAB-4813-A789-86EC464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505" y="4610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8FA35F32-1833-42CF-A74D-0066A4DE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02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D0FFC46-9497-4CC5-9691-2DF71BF1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73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A82C375F-835A-453B-9C86-FC0A8049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14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5750D66D-FDDA-401B-81EC-279A460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33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Tr大</a:t>
            </a:r>
          </a:p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B789065F-8354-4306-AD4B-EA25E41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505" y="51625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0D0E357-0BAE-4001-AB7D-338BD5A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2882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137EDCF2-3589-4808-A0A6-E6F01884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2597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A2197EFF-DCF8-4458-AC2C-A5F58DDC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52006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03E230B-ECB2-4AC6-81EA-BA10387B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219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Lm大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3857226-A5E4-49EA-B133-BECDF720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4610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133D758-D4C7-4196-9498-1D7131D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602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CF254AF-7A6F-47D4-82E9-54048602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573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744A267-87CD-43C8-809D-E61C06DD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514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DA7C62E3-EF79-46F1-93CD-BC6BAC42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533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i_sd^ψ指令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LPF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C6DE271-A5C4-4052-B220-DC54C192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51625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0690439F-F496-42C1-867F-802798D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2882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878192A8-8362-4432-89A9-9340E6B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52597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328B55B-A983-42DD-BAEF-49C4272A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2006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9AA0933F-DE90-4B17-B74A-0B4C425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5219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弱め界磁</a:t>
            </a: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161E204F-5DF2-4649-8B76-20A7534F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46101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4533FB93-9FB8-4554-ACEC-675DB23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46024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955C2609-1D1F-4ED6-A7D1-E97AE5E9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739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68979B60-E9A7-499D-BCA5-ADBF8D3F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5148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2DC8FCF-8506-42DB-BE24-824907DA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45339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電圧飽和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D558C8A-8385-4F75-8658-96038FF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805" y="51625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2AACF1A6-2D71-4593-82C7-6D4339EC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52882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6726204-4408-4F8F-B403-E1B62AC0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2597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7A38"/>
          </a:solidFill>
          <a:ln xmlns:a="http://schemas.openxmlformats.org/drawingml/2006/main" w="0">
            <a:solidFill>
              <a:srgbClr val="4E7A38"/>
            </a:solidFill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C5B0426E-B62F-4072-ADF3-C3209FAB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2006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8096">
            <a:solidFill>
              <a:srgbClr val="4E7A38"/>
            </a:solidFill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0313B6F-51FC-4EC0-A072-2FDC2BDE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52197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磁束ブースト</a:t>
            </a:r>
          </a:p>
          <a:p xmlns:a="http://schemas.openxmlformats.org/drawingml/2006/main">
            <a:pPr algn="ctr">
              <a:def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なし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BE6B8E6-B259-44E5-93EF-11D93C6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897880"/>
            <a:ext cx="95250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FDE927ED-E695-43EF-9C06-2BC8F434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54DA64E0-5DD3-4A9D-B015-46CA517C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9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10478">
            <a:solidFill>
              <a:srgbClr val="8A6414"/>
            </a:solidFill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5B933E48-42BE-4724-B3EB-9AF6C589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71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なぜ1</a:t>
            </a:r>
          </a:p>
          <a:p xmlns:a="http://schemas.openxmlformats.org/drawingml/2006/main">
            <a:pPr algn="ctr">
              <a:def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i_sq^ψ指令が</a:t>
            </a:r>
          </a:p>
          <a:p xmlns:a="http://schemas.openxmlformats.org/drawingml/2006/main">
            <a:pPr algn="ctr">
              <a:def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抑えられる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29B9779-3415-4737-BFFD-25C4D2C1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89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5FCCE8B-9162-4080-B8AA-3C212379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6C2896D-6029-4B74-B6E7-106D2D2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69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8F7D1D8E-9FF7-4DAB-ACC3-6344FBA7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71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なぜ2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トルク指令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レート制限が入る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8423ED5E-B640-4A90-89B2-2FBE66A5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589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815AF5A9-16C3-42B4-BFF9-B3DDC0FD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45E7988-0694-4A19-8E50-A2AB6E72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69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FB76460-31B5-403B-AE46-BFEF7D1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71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なぜ3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NVH/保護制御を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優先する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F966430C-66E5-45CF-81F3-E2DE7AC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89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A9847DF-18C7-491C-955D-09993B41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3ACEDDB-AF2B-49C0-A2C5-612515C6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569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10E5E8E-D82E-406A-BD7A-1C9CCAE2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571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なぜ4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評価条件と保護条件を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分けていない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7B5DDA5-55EA-433B-9D0E-98524232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589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6BBB4A73-2587-4E9C-BE64-1DB8ED62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4A3DE25-3B2B-492B-8FA8-128F2742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5695950"/>
            <a:ext cx="66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B8AB98"/>
            </a:solidFill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26169EF5-5CEA-4A1E-A079-83EF707F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5715000"/>
            <a:ext cx="628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なぜ5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応答目標から制限値を</a:t>
            </a:r>
          </a:p>
          <a:p xmlns:a="http://schemas.openxmlformats.org/drawingml/2006/main">
            <a:pPr algn="ctr">
              <a:def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386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決めていない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8B53F06C-00FC-4A42-B2CC-831C4397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897880"/>
            <a:ext cx="6667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BB8E3B5-863C-44E5-897D-0981CC88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58693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387B14E-B725-4293-B13B-F1A85C7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5695950"/>
            <a:ext cx="704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13335">
            <a:solidFill>
              <a:srgbClr val="8A6414"/>
            </a:solidFill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42D6308-CC28-4ED1-B4A0-C985A44A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571500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真因E</a:t>
            </a:r>
          </a:p>
          <a:p xmlns:a="http://schemas.openxmlformats.org/drawingml/2006/main">
            <a:pPr algn="ctr">
              <a:def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指令整形/</a:t>
            </a:r>
          </a:p>
          <a:p xmlns:a="http://schemas.openxmlformats.org/drawingml/2006/main">
            <a:pPr algn="ctr">
              <a:def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401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リミッタ不整合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A428260-FEE6-4370-84F6-434687C3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505" y="5562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B437A3A-918B-4E2E-942D-9CBEB5AD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554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CD9D4B5-CFCD-4D09-AD56-96A44F05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526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5EBEC70-AD3B-4A61-8F4D-8684716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467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EEBB4447-61A7-4D50-820F-F72955C4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486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トルク指令</a:t>
            </a:r>
          </a:p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LPF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2F2663D-61A3-4A6B-A42B-A63BED71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6115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83133FA-5174-4894-A73F-E1758A6A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40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9070D2A-E82B-4F76-9C08-3B34564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212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B4D2C5AA-2665-4C52-BD41-5C0BFDD6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153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8DEAF25-9611-484A-B6BE-EB268D1D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一次電流</a:t>
            </a:r>
          </a:p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上限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4FD4EF8F-3524-44B0-A96F-7CD64AE0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5562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A07E587C-08A2-4BDE-A76E-42EEDC6F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54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4FC694F4-BA32-4B55-AE86-E5345287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526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67494D3C-3655-4061-89CB-B5AAB28F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5467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D10356C4-617C-4E94-9F71-68623DF9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486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電圧制限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90D899C-327D-49F2-853C-AF460A0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6115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20808FF-0E5C-4A60-BD50-F5AE08C2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240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79D18E-1015-44ED-A251-E7802217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12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3324C4DB-3846-40A3-80CD-C04CAFA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153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924723C6-B64E-479F-9E17-8C77EDB1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6172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熱保護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009FF492-BE0D-4068-AD9C-50DF0C98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655" y="556260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4F4418AF-E7C7-43BD-881E-7D13FF2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5549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EBED8A9-3604-431A-95CD-B44C0ECF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5264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1CD17509-6BED-4261-9F9A-A88241E8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4673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3E694AE-F9C5-4646-B193-39830518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486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すべり周波数</a:t>
            </a:r>
          </a:p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制限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31299CFB-06FC-4735-8782-59F691F9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230" y="6115050"/>
            <a:ext cx="152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B9BB0984-D06A-4789-8785-651E516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240780"/>
            <a:ext cx="9525" cy="15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D0C5B23-A164-4D8E-8E12-17B705B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6212205"/>
            <a:ext cx="66675" cy="7239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A6414"/>
          </a:solidFill>
          <a:ln xmlns:a="http://schemas.openxmlformats.org/drawingml/2006/main" w="0">
            <a:solidFill>
              <a:srgbClr val="8A6414"/>
            </a:solidFill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E055230-551C-4C55-813A-FAD6E5AA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1531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8096">
            <a:solidFill>
              <a:srgbClr val="8A6414"/>
            </a:solidFill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E673E10-7C3F-42FF-A3C5-018B064A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1722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jerk</a:t>
            </a:r>
          </a:p>
          <a:p xmlns:a="http://schemas.openxmlformats.org/drawingml/2006/main">
            <a:pPr algn="ctr">
              <a:def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37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制限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187EBA0-1976-4BA6-8910-2A83022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6724650"/>
            <a:ext cx="7124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B99FA75-CB5B-41D5-B8C9-61972664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800850"/>
            <a:ext cx="681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6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除外確認：トルク推定LPF、速度微分LPF、ベンチ慣性による見かけ遅れは、相電流/速度のraw信号と分離する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785DE48-73B1-42DB-A149-B1BAEACB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353300"/>
            <a:ext cx="76581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649833D-87A2-422C-8BC7-57ED5D2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3533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97E7602-1A60-46E1-AD70-095C0E0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738187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5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88AF0ABB-7C9A-4874-A15B-5AD39DA2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3723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対策立案：ツリー末端の真因候補に対応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E832FB6F-294F-4E36-95AF-405E158D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705725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963D4D5C-482B-4CEE-AC90-A6D2D2E6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48600"/>
            <a:ext cx="1676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2CA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E3F035F-5016-47D7-B71D-2466ECA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94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43E2B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A43E2B"/>
                </a:solidFill>
                <a:latin typeface="Yu Gothic"/>
                <a:ea typeface="Yu Gothic"/>
                <a:cs typeface="Yu Gothic"/>
              </a:rPr>
              <a:t>A/C. 磁束角・Tr補正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4EE4151A-CB8D-4D3B-9060-7D61F4BA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3058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・Rr温度補正をTrへ反映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58A05A6-C466-491B-B90C-D235595E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534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・Lm(i_sd^ψ)飽和マップ化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B4AACD00-8A4F-4132-9F66-8BC3C905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630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・Trオンライン同定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60CB7AD7-8305-46B3-B883-11FFAB47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9916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・ωsl補償再設計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A6A90C4-17F1-42E3-B84B-9BAE2C3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7848600"/>
            <a:ext cx="1676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AEB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F21C19A-966C-4642-B9AD-AD8732C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94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73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146B73"/>
                </a:solidFill>
                <a:latin typeface="Yu Gothic"/>
                <a:ea typeface="Yu Gothic"/>
                <a:cs typeface="Yu Gothic"/>
              </a:rPr>
              <a:t>B. 電流制御/電圧余裕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E3610D0-EDBC-4A4A-8580-3E4AF2FA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3058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・電流PI帯域を目標から逆算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A6D385FC-A4BE-491E-BE16-2E411589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534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・dq非干渉補償を再同定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009F9894-3BAE-4BAA-83F7-7003DF2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7630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・飽和時i_sq^ψ優先則を定義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CFDC7E4A-8B33-4555-88A7-BDC263C3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89916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・相電流検出LPF/PWM遅れを補償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7047912-D3D0-482C-810E-4FAA679C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848600"/>
            <a:ext cx="1676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7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3F923AD-D6A7-4232-9C27-7747E8B7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94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E7A38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4E7A38"/>
                </a:solidFill>
                <a:latin typeface="Yu Gothic"/>
                <a:ea typeface="Yu Gothic"/>
                <a:cs typeface="Yu Gothic"/>
              </a:rPr>
              <a:t>D. 磁束確保/i_sd^ψ配分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A226A914-5DAF-4340-988D-4956D9DD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3058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・過渡時i_sd^ψ下限を設定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249F7DD-B875-4839-A91F-147FBC26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534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・磁束ブーストを条件付き投入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1790EEE3-FF27-4FCE-962D-E0CAA120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7630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・i_sd^ψ/i_sq^ψ配分を電圧余裕で切替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B66C0FD-2EEC-4F93-B79D-416DDBA8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89916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・弱め界磁時の限界を明示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4F82402-8961-4F11-A377-28A0C493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7848600"/>
            <a:ext cx="16764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3B8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34D18BF6-A852-4C7D-B127-3237F543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7943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A6414"/>
                </a:solidFill>
                <a:latin typeface="Yu Gothic"/>
                <a:ea typeface="Yu Gothic"/>
                <a:cs typeface="Yu Gothic"/>
              </a:defRPr>
            </a:pPr>
            <a:r>
              <a:rPr sz="825" b="1">
                <a:solidFill>
                  <a:srgbClr val="8A6414"/>
                </a:solidFill>
                <a:latin typeface="Yu Gothic"/>
                <a:ea typeface="Yu Gothic"/>
                <a:cs typeface="Yu Gothic"/>
              </a:rPr>
              <a:t>E. 指令整形/リミッタ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25FCCD5-823C-49E2-8290-2B3A02F5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3058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・評価時は制限を切分け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F5CF8FE8-73FE-4A2D-945A-B76F7A8D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5344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・トルク指令レート制限を再設計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884A5EF-A633-4CEB-8086-8EFFA06A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7630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・保護制御の作動条件を明確化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B3C496B-B59A-4442-8CEB-19EB5CB9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9916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743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・指令→i_sq^ψ指令遅れを管理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96DF13F-5692-4BAA-A8A5-5CB33147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639300"/>
            <a:ext cx="716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6D8"/>
          </a:solidFill>
          <a:ln xmlns:a="http://schemas.openxmlformats.org/drawingml/2006/main" w="7620">
            <a:solidFill>
              <a:srgbClr val="B8AB98"/>
            </a:solidFill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7392D8A-CEA9-47B3-BBAE-2BCE864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97536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85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5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実施順：枝葉候補も含め、θ^ψr-θψr、i_sq^ψ追従、v_sd/v_sq飽和、i_sd^ψ余裕でA-Eを切分ける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2130786-5166-410C-8F8C-6C12818A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363200"/>
            <a:ext cx="765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0001">
            <a:solidFill>
              <a:srgbClr val="B8AB98"/>
            </a:solidFill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C5FA72F3-6839-4A2E-9967-A9494FAE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363200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695A09C-2D51-478B-B44F-5A944BE0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0391775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6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50D6F11-AE35-4DE6-9A94-33DB71E9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03822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効果確認・標準化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8B94E3B-F433-48FB-8E79-3A2319CC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715625"/>
            <a:ext cx="7391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B98"/>
          </a:solidFill>
          <a:ln xmlns:a="http://schemas.openxmlformats.org/drawingml/2006/main" w="0">
            <a:solidFill>
              <a:srgbClr val="B8AB98"/>
            </a:solidFill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7070D2E9-17D3-456D-87FD-F6FFFCE7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820400"/>
            <a:ext cx="706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1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効果確認：ψr直交一次電流成分、θ^ψr-θψr、i_sq^ψ追従、v_sd/v_sq飽和、i_sd^ψ余裕、リミッタ作動を比較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AA348363-38B9-4A02-B1BA-B55709AB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39475"/>
            <a:ext cx="7067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28575" tIns="9525" rIns="28575" bIns="9525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F2933"/>
                </a:solidFill>
                <a:latin typeface="Yu Gothic"/>
                <a:ea typeface="Yu Gothic"/>
                <a:cs typeface="Yu Gothic"/>
              </a:defRPr>
            </a:pPr>
            <a:r>
              <a:rPr sz="810" b="0">
                <a:solidFill>
                  <a:srgbClr val="1F2933"/>
                </a:solidFill>
                <a:latin typeface="Yu Gothic"/>
                <a:ea typeface="Yu Gothic"/>
                <a:cs typeface="Yu Gothic"/>
              </a:rPr>
              <a:t>標準化：Tr補正式、電流制御帯域設計、i_sd^ψ/i_sq^ψ配分、磁束ブースト、指令整形条件を設計標準化</a:t>
            </a:r>
          </a:p>
        </p:txBody>
      </p:sp>
    </p:spTree>
    <p:extLst>
      <p:ext uri="{BB962C8B-B14F-4D97-AF65-F5344CB8AC3E}">
        <p14:creationId xmlns:p14="http://schemas.microsoft.com/office/powerpoint/2010/main" val="35042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2026-06-14T09:25:28.7070000Z</dcterms:created>
  <dcterms:modified xsi:type="dcterms:W3CDTF">2026-06-14T09:25:28.7070000Z</dcterms:modified>
</coreProperties>
</file>